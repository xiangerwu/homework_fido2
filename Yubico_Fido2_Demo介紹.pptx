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2"/>
  </p:notesMasterIdLst>
  <p:sldIdLst>
    <p:sldId id="256" r:id="rId2"/>
    <p:sldId id="257" r:id="rId3"/>
    <p:sldId id="274" r:id="rId4"/>
    <p:sldId id="266" r:id="rId5"/>
    <p:sldId id="272" r:id="rId6"/>
    <p:sldId id="268" r:id="rId7"/>
    <p:sldId id="273" r:id="rId8"/>
    <p:sldId id="271" r:id="rId9"/>
    <p:sldId id="270" r:id="rId10"/>
    <p:sldId id="27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83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F5B78-D1ED-485C-9080-14C61BB431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5310F0-E403-4FDD-AA73-95FAF8418A66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 dirty="0"/>
            <a:t>前端 </a:t>
          </a:r>
          <a:r>
            <a:rPr lang="en-US" b="0" i="0" dirty="0"/>
            <a:t>Html + JavaScript + Bootstrap  </a:t>
          </a:r>
          <a:endParaRPr lang="en-US" dirty="0"/>
        </a:p>
      </dgm:t>
    </dgm:pt>
    <dgm:pt modelId="{515C6BA8-1629-44EA-A84A-48BC03564D0E}" type="parTrans" cxnId="{BC5EEE7C-5792-40C9-849E-823821B73206}">
      <dgm:prSet/>
      <dgm:spPr/>
      <dgm:t>
        <a:bodyPr/>
        <a:lstStyle/>
        <a:p>
          <a:endParaRPr lang="en-US"/>
        </a:p>
      </dgm:t>
    </dgm:pt>
    <dgm:pt modelId="{763E55D3-EE16-4B73-A59B-A2EE71C9A782}" type="sibTrans" cxnId="{BC5EEE7C-5792-40C9-849E-823821B73206}">
      <dgm:prSet/>
      <dgm:spPr/>
      <dgm:t>
        <a:bodyPr/>
        <a:lstStyle/>
        <a:p>
          <a:endParaRPr lang="en-US"/>
        </a:p>
      </dgm:t>
    </dgm:pt>
    <dgm:pt modelId="{F25E1F8F-10E6-40DC-910C-90585C126D40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 dirty="0"/>
            <a:t>後端 </a:t>
          </a:r>
          <a:r>
            <a:rPr lang="en-US" b="0" i="0" dirty="0"/>
            <a:t>Python </a:t>
          </a:r>
          <a:r>
            <a:rPr lang="zh-TW" b="0" i="0" dirty="0"/>
            <a:t>套件 </a:t>
          </a:r>
          <a:r>
            <a:rPr lang="en-US" b="0" i="0" dirty="0"/>
            <a:t>Flask </a:t>
          </a:r>
          <a:r>
            <a:rPr lang="zh-TW" b="0" i="0" dirty="0"/>
            <a:t>、</a:t>
          </a:r>
          <a:r>
            <a:rPr lang="en-US" b="0" i="0" dirty="0"/>
            <a:t>fido2</a:t>
          </a:r>
          <a:r>
            <a:rPr lang="zh-TW" altLang="en-US" b="0" i="0" dirty="0"/>
            <a:t>、</a:t>
          </a:r>
          <a:r>
            <a:rPr lang="en-US" altLang="zh-TW" b="0" i="0" dirty="0"/>
            <a:t>SQLite</a:t>
          </a:r>
          <a:endParaRPr lang="en-US" dirty="0"/>
        </a:p>
      </dgm:t>
    </dgm:pt>
    <dgm:pt modelId="{3F574CB1-3C84-4EB0-990E-65D89335F080}" type="parTrans" cxnId="{06731B09-180C-49B8-9FDB-4E57DE70F2D1}">
      <dgm:prSet/>
      <dgm:spPr/>
      <dgm:t>
        <a:bodyPr/>
        <a:lstStyle/>
        <a:p>
          <a:endParaRPr lang="en-US"/>
        </a:p>
      </dgm:t>
    </dgm:pt>
    <dgm:pt modelId="{0095DE1C-5A80-4AE6-BA55-053283B46ECC}" type="sibTrans" cxnId="{06731B09-180C-49B8-9FDB-4E57DE70F2D1}">
      <dgm:prSet/>
      <dgm:spPr/>
      <dgm:t>
        <a:bodyPr/>
        <a:lstStyle/>
        <a:p>
          <a:endParaRPr lang="en-US"/>
        </a:p>
      </dgm:t>
    </dgm:pt>
    <dgm:pt modelId="{7C918551-78FC-44A4-B582-DC00CC15711B}" type="pres">
      <dgm:prSet presAssocID="{08FF5B78-D1ED-485C-9080-14C61BB4315C}" presName="root" presStyleCnt="0">
        <dgm:presLayoutVars>
          <dgm:dir/>
          <dgm:resizeHandles val="exact"/>
        </dgm:presLayoutVars>
      </dgm:prSet>
      <dgm:spPr/>
    </dgm:pt>
    <dgm:pt modelId="{8918C1B2-30DE-479B-9493-834C621F6065}" type="pres">
      <dgm:prSet presAssocID="{565310F0-E403-4FDD-AA73-95FAF8418A66}" presName="compNode" presStyleCnt="0"/>
      <dgm:spPr/>
    </dgm:pt>
    <dgm:pt modelId="{8186DFFC-F076-4383-852C-BF27195B5CF7}" type="pres">
      <dgm:prSet presAssocID="{565310F0-E403-4FDD-AA73-95FAF8418A66}" presName="bgRect" presStyleLbl="bgShp" presStyleIdx="0" presStyleCnt="2"/>
      <dgm:spPr/>
    </dgm:pt>
    <dgm:pt modelId="{5E175698-E01B-4985-9EEE-80AEA12FF318}" type="pres">
      <dgm:prSet presAssocID="{565310F0-E403-4FDD-AA73-95FAF8418A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螢幕"/>
        </a:ext>
      </dgm:extLst>
    </dgm:pt>
    <dgm:pt modelId="{BF7016C2-A540-46E5-9610-30454255A5EF}" type="pres">
      <dgm:prSet presAssocID="{565310F0-E403-4FDD-AA73-95FAF8418A66}" presName="spaceRect" presStyleCnt="0"/>
      <dgm:spPr/>
    </dgm:pt>
    <dgm:pt modelId="{10D6DD42-CA59-44A0-B6AC-DD2691652808}" type="pres">
      <dgm:prSet presAssocID="{565310F0-E403-4FDD-AA73-95FAF8418A66}" presName="parTx" presStyleLbl="revTx" presStyleIdx="0" presStyleCnt="2">
        <dgm:presLayoutVars>
          <dgm:chMax val="0"/>
          <dgm:chPref val="0"/>
        </dgm:presLayoutVars>
      </dgm:prSet>
      <dgm:spPr/>
    </dgm:pt>
    <dgm:pt modelId="{0AE87B30-9D01-4FA9-8BA3-C940DC0B35C1}" type="pres">
      <dgm:prSet presAssocID="{763E55D3-EE16-4B73-A59B-A2EE71C9A782}" presName="sibTrans" presStyleCnt="0"/>
      <dgm:spPr/>
    </dgm:pt>
    <dgm:pt modelId="{26558387-7D0B-4A50-B469-1342B704B1BA}" type="pres">
      <dgm:prSet presAssocID="{F25E1F8F-10E6-40DC-910C-90585C126D40}" presName="compNode" presStyleCnt="0"/>
      <dgm:spPr/>
    </dgm:pt>
    <dgm:pt modelId="{E772C50C-CD8B-4D73-8FB1-F50C1BF7A65D}" type="pres">
      <dgm:prSet presAssocID="{F25E1F8F-10E6-40DC-910C-90585C126D40}" presName="bgRect" presStyleLbl="bgShp" presStyleIdx="1" presStyleCnt="2"/>
      <dgm:spPr/>
    </dgm:pt>
    <dgm:pt modelId="{61AF99DF-87EC-4823-98C7-D0F48D2A3324}" type="pres">
      <dgm:prSet presAssocID="{F25E1F8F-10E6-40DC-910C-90585C126D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燒瓶"/>
        </a:ext>
      </dgm:extLst>
    </dgm:pt>
    <dgm:pt modelId="{16639DEF-1145-468F-9C65-6FA0E2B79B49}" type="pres">
      <dgm:prSet presAssocID="{F25E1F8F-10E6-40DC-910C-90585C126D40}" presName="spaceRect" presStyleCnt="0"/>
      <dgm:spPr/>
    </dgm:pt>
    <dgm:pt modelId="{CBA41E7C-18BB-45C4-9BE3-7230E5B99A1B}" type="pres">
      <dgm:prSet presAssocID="{F25E1F8F-10E6-40DC-910C-90585C126D4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C39F308-8BEE-4555-B7C1-CF0DBEFA6064}" type="presOf" srcId="{565310F0-E403-4FDD-AA73-95FAF8418A66}" destId="{10D6DD42-CA59-44A0-B6AC-DD2691652808}" srcOrd="0" destOrd="0" presId="urn:microsoft.com/office/officeart/2018/2/layout/IconVerticalSolidList"/>
    <dgm:cxn modelId="{06731B09-180C-49B8-9FDB-4E57DE70F2D1}" srcId="{08FF5B78-D1ED-485C-9080-14C61BB4315C}" destId="{F25E1F8F-10E6-40DC-910C-90585C126D40}" srcOrd="1" destOrd="0" parTransId="{3F574CB1-3C84-4EB0-990E-65D89335F080}" sibTransId="{0095DE1C-5A80-4AE6-BA55-053283B46ECC}"/>
    <dgm:cxn modelId="{566FC56F-0E51-4D14-A0BB-006450806AA3}" type="presOf" srcId="{08FF5B78-D1ED-485C-9080-14C61BB4315C}" destId="{7C918551-78FC-44A4-B582-DC00CC15711B}" srcOrd="0" destOrd="0" presId="urn:microsoft.com/office/officeart/2018/2/layout/IconVerticalSolidList"/>
    <dgm:cxn modelId="{BC5EEE7C-5792-40C9-849E-823821B73206}" srcId="{08FF5B78-D1ED-485C-9080-14C61BB4315C}" destId="{565310F0-E403-4FDD-AA73-95FAF8418A66}" srcOrd="0" destOrd="0" parTransId="{515C6BA8-1629-44EA-A84A-48BC03564D0E}" sibTransId="{763E55D3-EE16-4B73-A59B-A2EE71C9A782}"/>
    <dgm:cxn modelId="{1E304EAF-F2CB-4293-AA7A-EAAD811E70D1}" type="presOf" srcId="{F25E1F8F-10E6-40DC-910C-90585C126D40}" destId="{CBA41E7C-18BB-45C4-9BE3-7230E5B99A1B}" srcOrd="0" destOrd="0" presId="urn:microsoft.com/office/officeart/2018/2/layout/IconVerticalSolidList"/>
    <dgm:cxn modelId="{5852D821-8AA1-4EA5-BC9B-42B7BE0BEC46}" type="presParOf" srcId="{7C918551-78FC-44A4-B582-DC00CC15711B}" destId="{8918C1B2-30DE-479B-9493-834C621F6065}" srcOrd="0" destOrd="0" presId="urn:microsoft.com/office/officeart/2018/2/layout/IconVerticalSolidList"/>
    <dgm:cxn modelId="{37B37311-1AA9-4BFF-B6C1-4E581E069834}" type="presParOf" srcId="{8918C1B2-30DE-479B-9493-834C621F6065}" destId="{8186DFFC-F076-4383-852C-BF27195B5CF7}" srcOrd="0" destOrd="0" presId="urn:microsoft.com/office/officeart/2018/2/layout/IconVerticalSolidList"/>
    <dgm:cxn modelId="{65BF53EF-73AC-44B1-87DB-0E84341768CB}" type="presParOf" srcId="{8918C1B2-30DE-479B-9493-834C621F6065}" destId="{5E175698-E01B-4985-9EEE-80AEA12FF318}" srcOrd="1" destOrd="0" presId="urn:microsoft.com/office/officeart/2018/2/layout/IconVerticalSolidList"/>
    <dgm:cxn modelId="{74FA71B6-3FD9-455B-A213-1890753C1154}" type="presParOf" srcId="{8918C1B2-30DE-479B-9493-834C621F6065}" destId="{BF7016C2-A540-46E5-9610-30454255A5EF}" srcOrd="2" destOrd="0" presId="urn:microsoft.com/office/officeart/2018/2/layout/IconVerticalSolidList"/>
    <dgm:cxn modelId="{0950AB3C-381E-4B9D-BFAA-3C72F004003C}" type="presParOf" srcId="{8918C1B2-30DE-479B-9493-834C621F6065}" destId="{10D6DD42-CA59-44A0-B6AC-DD2691652808}" srcOrd="3" destOrd="0" presId="urn:microsoft.com/office/officeart/2018/2/layout/IconVerticalSolidList"/>
    <dgm:cxn modelId="{B35BF227-F679-4787-AE11-54E7B8A70ECF}" type="presParOf" srcId="{7C918551-78FC-44A4-B582-DC00CC15711B}" destId="{0AE87B30-9D01-4FA9-8BA3-C940DC0B35C1}" srcOrd="1" destOrd="0" presId="urn:microsoft.com/office/officeart/2018/2/layout/IconVerticalSolidList"/>
    <dgm:cxn modelId="{3F4E159D-A43E-4A8A-8AFD-83EB8727F81C}" type="presParOf" srcId="{7C918551-78FC-44A4-B582-DC00CC15711B}" destId="{26558387-7D0B-4A50-B469-1342B704B1BA}" srcOrd="2" destOrd="0" presId="urn:microsoft.com/office/officeart/2018/2/layout/IconVerticalSolidList"/>
    <dgm:cxn modelId="{D2A2E018-2D5C-4F61-8242-B0960C8714E7}" type="presParOf" srcId="{26558387-7D0B-4A50-B469-1342B704B1BA}" destId="{E772C50C-CD8B-4D73-8FB1-F50C1BF7A65D}" srcOrd="0" destOrd="0" presId="urn:microsoft.com/office/officeart/2018/2/layout/IconVerticalSolidList"/>
    <dgm:cxn modelId="{510B4DBD-086D-491D-A521-283A70DF884D}" type="presParOf" srcId="{26558387-7D0B-4A50-B469-1342B704B1BA}" destId="{61AF99DF-87EC-4823-98C7-D0F48D2A3324}" srcOrd="1" destOrd="0" presId="urn:microsoft.com/office/officeart/2018/2/layout/IconVerticalSolidList"/>
    <dgm:cxn modelId="{1C72850E-4021-45DB-9E08-04A0654AE7AD}" type="presParOf" srcId="{26558387-7D0B-4A50-B469-1342B704B1BA}" destId="{16639DEF-1145-468F-9C65-6FA0E2B79B49}" srcOrd="2" destOrd="0" presId="urn:microsoft.com/office/officeart/2018/2/layout/IconVerticalSolidList"/>
    <dgm:cxn modelId="{62A1AF0E-6602-45FA-8F3C-E9D8F61FC30E}" type="presParOf" srcId="{26558387-7D0B-4A50-B469-1342B704B1BA}" destId="{CBA41E7C-18BB-45C4-9BE3-7230E5B99A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6DFFC-F076-4383-852C-BF27195B5CF7}">
      <dsp:nvSpPr>
        <dsp:cNvPr id="0" name=""/>
        <dsp:cNvSpPr/>
      </dsp:nvSpPr>
      <dsp:spPr>
        <a:xfrm>
          <a:off x="0" y="749949"/>
          <a:ext cx="10233479" cy="13845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75698-E01B-4985-9EEE-80AEA12FF318}">
      <dsp:nvSpPr>
        <dsp:cNvPr id="0" name=""/>
        <dsp:cNvSpPr/>
      </dsp:nvSpPr>
      <dsp:spPr>
        <a:xfrm>
          <a:off x="418817" y="1061466"/>
          <a:ext cx="761486" cy="7614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6DD42-CA59-44A0-B6AC-DD2691652808}">
      <dsp:nvSpPr>
        <dsp:cNvPr id="0" name=""/>
        <dsp:cNvSpPr/>
      </dsp:nvSpPr>
      <dsp:spPr>
        <a:xfrm>
          <a:off x="1599122" y="749949"/>
          <a:ext cx="8634356" cy="1384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9" tIns="146529" rIns="146529" bIns="1465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 dirty="0"/>
            <a:t>前端 </a:t>
          </a:r>
          <a:r>
            <a:rPr lang="en-US" sz="2500" b="0" i="0" kern="1200" dirty="0"/>
            <a:t>Html + JavaScript + Bootstrap  </a:t>
          </a:r>
          <a:endParaRPr lang="en-US" sz="2500" kern="1200" dirty="0"/>
        </a:p>
      </dsp:txBody>
      <dsp:txXfrm>
        <a:off x="1599122" y="749949"/>
        <a:ext cx="8634356" cy="1384521"/>
      </dsp:txXfrm>
    </dsp:sp>
    <dsp:sp modelId="{E772C50C-CD8B-4D73-8FB1-F50C1BF7A65D}">
      <dsp:nvSpPr>
        <dsp:cNvPr id="0" name=""/>
        <dsp:cNvSpPr/>
      </dsp:nvSpPr>
      <dsp:spPr>
        <a:xfrm>
          <a:off x="0" y="2480600"/>
          <a:ext cx="10233479" cy="13845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F99DF-87EC-4823-98C7-D0F48D2A3324}">
      <dsp:nvSpPr>
        <dsp:cNvPr id="0" name=""/>
        <dsp:cNvSpPr/>
      </dsp:nvSpPr>
      <dsp:spPr>
        <a:xfrm>
          <a:off x="418817" y="2792117"/>
          <a:ext cx="761486" cy="7614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41E7C-18BB-45C4-9BE3-7230E5B99A1B}">
      <dsp:nvSpPr>
        <dsp:cNvPr id="0" name=""/>
        <dsp:cNvSpPr/>
      </dsp:nvSpPr>
      <dsp:spPr>
        <a:xfrm>
          <a:off x="1599122" y="2480600"/>
          <a:ext cx="8634356" cy="1384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529" tIns="146529" rIns="146529" bIns="1465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 dirty="0"/>
            <a:t>後端 </a:t>
          </a:r>
          <a:r>
            <a:rPr lang="en-US" sz="2500" b="0" i="0" kern="1200" dirty="0"/>
            <a:t>Python </a:t>
          </a:r>
          <a:r>
            <a:rPr lang="zh-TW" sz="2500" b="0" i="0" kern="1200" dirty="0"/>
            <a:t>套件 </a:t>
          </a:r>
          <a:r>
            <a:rPr lang="en-US" sz="2500" b="0" i="0" kern="1200" dirty="0"/>
            <a:t>Flask </a:t>
          </a:r>
          <a:r>
            <a:rPr lang="zh-TW" sz="2500" b="0" i="0" kern="1200" dirty="0"/>
            <a:t>、</a:t>
          </a:r>
          <a:r>
            <a:rPr lang="en-US" sz="2500" b="0" i="0" kern="1200" dirty="0"/>
            <a:t>fido2</a:t>
          </a:r>
          <a:r>
            <a:rPr lang="zh-TW" altLang="en-US" sz="2500" b="0" i="0" kern="1200" dirty="0"/>
            <a:t>、</a:t>
          </a:r>
          <a:r>
            <a:rPr lang="en-US" altLang="zh-TW" sz="2500" b="0" i="0" kern="1200" dirty="0"/>
            <a:t>SQLite</a:t>
          </a:r>
          <a:endParaRPr lang="en-US" sz="2500" kern="1200" dirty="0"/>
        </a:p>
      </dsp:txBody>
      <dsp:txXfrm>
        <a:off x="1599122" y="2480600"/>
        <a:ext cx="8634356" cy="1384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F2E3F-5533-4A72-AE10-87EE3298E589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57FFB-1F1B-4C86-9F8B-217896ED7C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77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57FFB-1F1B-4C86-9F8B-217896ED7C0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936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3/24/2025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5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5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54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28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0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8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8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43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3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6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ido2-web.akitawan.moe/ma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網路科技背景">
            <a:extLst>
              <a:ext uri="{FF2B5EF4-FFF2-40B4-BE49-F238E27FC236}">
                <a16:creationId xmlns:a16="http://schemas.microsoft.com/office/drawing/2014/main" id="{3A48F64C-C076-F65A-59A0-73EC95739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0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749BBC7-6558-6486-6271-7D9FF1BDB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/>
          </a:bodyPr>
          <a:lstStyle/>
          <a:p>
            <a: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Fido2_Demo </a:t>
            </a:r>
            <a:r>
              <a:rPr lang="zh-TW" altLang="en-US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架構介紹</a:t>
            </a:r>
            <a:b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endParaRPr lang="zh-TW" altLang="en-US" sz="5000" dirty="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ADB4471-B266-35CD-CAC0-33A2DA44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r>
              <a:rPr lang="en-US" altLang="zh-TW">
                <a:latin typeface="Fira Code" pitchFamily="1" charset="0"/>
                <a:ea typeface="Fira Code" pitchFamily="1" charset="0"/>
                <a:cs typeface="Fira Code" pitchFamily="1" charset="0"/>
              </a:rPr>
              <a:t>M11417001 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Fira Code" pitchFamily="1" charset="0"/>
              </a:rPr>
              <a:t>吳宗憲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406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D207D-46E0-F6F6-740A-F1D279CB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Fira Code" pitchFamily="1" charset="0"/>
                <a:cs typeface="Fira Code" pitchFamily="1" charset="0"/>
              </a:rPr>
              <a:t>Demo </a:t>
            </a:r>
            <a:r>
              <a:rPr lang="zh-TW" altLang="en-US" dirty="0">
                <a:cs typeface="Fira Code" pitchFamily="1" charset="0"/>
              </a:rPr>
              <a:t>架構簡述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E27B6A2-1180-1FC8-44FB-1B3EB6DCB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147858"/>
              </p:ext>
            </p:extLst>
          </p:nvPr>
        </p:nvGraphicFramePr>
        <p:xfrm>
          <a:off x="565150" y="1472038"/>
          <a:ext cx="10233479" cy="4615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316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94D390-E415-25BB-9472-C5E1F0ED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網路構成</a:t>
            </a:r>
          </a:p>
        </p:txBody>
      </p:sp>
      <p:pic>
        <p:nvPicPr>
          <p:cNvPr id="25" name="內容版面配置區 24" descr="一張含有 文字, 圖表, 行, 螢幕擷取畫面 的圖片&#10;&#10;AI 產生的內容可能不正確。">
            <a:extLst>
              <a:ext uri="{FF2B5EF4-FFF2-40B4-BE49-F238E27FC236}">
                <a16:creationId xmlns:a16="http://schemas.microsoft.com/office/drawing/2014/main" id="{5C9D4AA1-D1EF-821C-6977-81FC7AF9B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821" y="1405382"/>
            <a:ext cx="8600613" cy="5316220"/>
          </a:xfr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A4FBA209-FFFC-91FE-92A5-3D211AD96132}"/>
              </a:ext>
            </a:extLst>
          </p:cNvPr>
          <p:cNvSpPr txBox="1"/>
          <p:nvPr/>
        </p:nvSpPr>
        <p:spPr>
          <a:xfrm>
            <a:off x="6505303" y="155012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實驗室的虛擬機</a:t>
            </a:r>
          </a:p>
        </p:txBody>
      </p:sp>
    </p:spTree>
    <p:extLst>
      <p:ext uri="{BB962C8B-B14F-4D97-AF65-F5344CB8AC3E}">
        <p14:creationId xmlns:p14="http://schemas.microsoft.com/office/powerpoint/2010/main" val="700911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 </a:t>
            </a:r>
            <a:r>
              <a:rPr lang="zh-TW" altLang="en-US" dirty="0"/>
              <a:t>註冊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F6ED73-A3E9-297A-0696-A2EAF5A07E5C}"/>
              </a:ext>
            </a:extLst>
          </p:cNvPr>
          <p:cNvSpPr txBox="1"/>
          <p:nvPr/>
        </p:nvSpPr>
        <p:spPr>
          <a:xfrm>
            <a:off x="4206721" y="3218606"/>
            <a:ext cx="33571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新用戶產生一組隨機碼，依照使用套件打包為瀏覽器</a:t>
            </a:r>
            <a:r>
              <a:rPr lang="en-US" altLang="zh-TW" sz="1600" dirty="0"/>
              <a:t>API</a:t>
            </a:r>
            <a:r>
              <a:rPr lang="zh-TW" altLang="en-US" sz="1600" dirty="0"/>
              <a:t>能接收的格式，以及其他參數</a:t>
            </a:r>
            <a:r>
              <a:rPr lang="en-US" altLang="zh-TW" sz="1600" dirty="0"/>
              <a:t>:</a:t>
            </a:r>
          </a:p>
          <a:p>
            <a:r>
              <a:rPr lang="en-US" altLang="zh-TW" sz="1600" b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ira code" pitchFamily="1" charset="0"/>
              </a:rPr>
              <a:t>user_verification</a:t>
            </a:r>
            <a:endParaRPr lang="en-US" altLang="zh-TW" sz="160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Fira code" pitchFamily="1" charset="0"/>
            </a:endParaRPr>
          </a:p>
          <a:p>
            <a:r>
              <a:rPr lang="en-US" altLang="zh-TW" sz="1600" b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ira code" pitchFamily="1" charset="0"/>
              </a:rPr>
              <a:t>authenticator_attachment</a:t>
            </a:r>
            <a:endParaRPr lang="en-US" altLang="zh-TW" sz="160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Fira code" pitchFamily="1" charset="0"/>
            </a:endParaRPr>
          </a:p>
          <a:p>
            <a:r>
              <a:rPr lang="en-US" altLang="zh-TW" sz="1600" b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ira code" pitchFamily="1" charset="0"/>
              </a:rPr>
              <a:t>resident_key_requirement</a:t>
            </a:r>
            <a:endParaRPr lang="en-US" altLang="zh-TW" sz="1600" b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Fira code" pitchFamily="1" charset="0"/>
            </a:endParaRPr>
          </a:p>
          <a:p>
            <a:r>
              <a:rPr lang="zh-TW" altLang="en-US" sz="1600" dirty="0"/>
              <a:t>再 </a:t>
            </a:r>
            <a:r>
              <a:rPr lang="en-US" altLang="zh-TW" sz="1600" dirty="0"/>
              <a:t>Return </a:t>
            </a:r>
            <a:r>
              <a:rPr lang="zh-TW" altLang="en-US" sz="1600" dirty="0"/>
              <a:t>給前端</a:t>
            </a:r>
            <a:endParaRPr lang="en-US" altLang="zh-TW" sz="1600" dirty="0"/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9920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  <a:r>
              <a:rPr lang="zh-TW" altLang="en-US" b="0" dirty="0">
                <a:solidFill>
                  <a:srgbClr val="CE9178"/>
                </a:solidFill>
                <a:latin typeface="Fira code" pitchFamily="1" charset="0"/>
              </a:rPr>
              <a:t> 瀏覽器</a:t>
            </a:r>
            <a:r>
              <a:rPr lang="en-US" altLang="zh-TW" b="0" dirty="0">
                <a:solidFill>
                  <a:srgbClr val="CE9178"/>
                </a:solidFill>
                <a:latin typeface="Fira code" pitchFamily="1" charset="0"/>
              </a:rPr>
              <a:t>API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D78FF31-0E15-CFB7-097A-EEC8D44CC5A9}"/>
              </a:ext>
            </a:extLst>
          </p:cNvPr>
          <p:cNvSpPr txBox="1"/>
          <p:nvPr/>
        </p:nvSpPr>
        <p:spPr>
          <a:xfrm>
            <a:off x="1596655" y="4700295"/>
            <a:ext cx="75881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將收到的資料轉換格式</a:t>
            </a:r>
            <a:r>
              <a:rPr lang="en-US" altLang="zh-TW" dirty="0"/>
              <a:t>(base64</a:t>
            </a:r>
            <a:r>
              <a:rPr lang="zh-TW" altLang="en-US" dirty="0"/>
              <a:t> </a:t>
            </a:r>
            <a:r>
              <a:rPr lang="en-US" altLang="zh-TW" dirty="0"/>
              <a:t>-&gt; byte)</a:t>
            </a:r>
            <a:r>
              <a:rPr lang="zh-TW" altLang="en-US" dirty="0"/>
              <a:t>之後</a:t>
            </a:r>
            <a:endParaRPr lang="en-US" altLang="zh-TW" dirty="0"/>
          </a:p>
          <a:p>
            <a:r>
              <a:rPr lang="zh-TW" altLang="en-US" dirty="0"/>
              <a:t>呼叫通用 </a:t>
            </a:r>
            <a:r>
              <a:rPr lang="en-US" altLang="zh-TW" dirty="0"/>
              <a:t>API</a:t>
            </a:r>
            <a:r>
              <a:rPr lang="zh-TW" altLang="en-US" dirty="0"/>
              <a:t> </a:t>
            </a:r>
            <a:r>
              <a:rPr lang="en-US" altLang="zh-TW" b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ira code" pitchFamily="1" charset="0"/>
              </a:rPr>
              <a:t>navigator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Fira code" pitchFamily="1" charset="0"/>
              </a:rPr>
              <a:t>.</a:t>
            </a:r>
            <a:r>
              <a:rPr lang="en-US" altLang="zh-TW" b="0" dirty="0" err="1">
                <a:solidFill>
                  <a:srgbClr val="4FC1FF"/>
                </a:solidFill>
                <a:effectLst/>
                <a:latin typeface="Fira code" pitchFamily="1" charset="0"/>
              </a:rPr>
              <a:t>credentials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Fira code" pitchFamily="1" charset="0"/>
              </a:rPr>
              <a:t>.</a:t>
            </a:r>
            <a:r>
              <a:rPr lang="en-US" altLang="zh-TW" b="0" dirty="0" err="1">
                <a:solidFill>
                  <a:srgbClr val="FF0000"/>
                </a:solidFill>
                <a:effectLst/>
                <a:latin typeface="Fira code" pitchFamily="1" charset="0"/>
              </a:rPr>
              <a:t>create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()</a:t>
            </a:r>
          </a:p>
          <a:p>
            <a:r>
              <a:rPr lang="zh-TW" altLang="en-US" dirty="0"/>
              <a:t>使用驗證器</a:t>
            </a:r>
            <a:r>
              <a:rPr lang="en-US" altLang="zh-TW" dirty="0"/>
              <a:t>(PIN</a:t>
            </a:r>
            <a:r>
              <a:rPr lang="zh-TW" altLang="en-US" dirty="0"/>
              <a:t>、實體金鑰、</a:t>
            </a:r>
            <a:r>
              <a:rPr lang="en-US" altLang="zh-TW" dirty="0"/>
              <a:t>QR</a:t>
            </a:r>
            <a:r>
              <a:rPr lang="zh-TW" altLang="en-US" dirty="0"/>
              <a:t> </a:t>
            </a:r>
            <a:r>
              <a:rPr lang="en-US" altLang="zh-TW" dirty="0"/>
              <a:t>code)</a:t>
            </a:r>
            <a:r>
              <a:rPr lang="zh-TW" altLang="en-US" dirty="0"/>
              <a:t>註冊使用者資料</a:t>
            </a:r>
            <a:r>
              <a:rPr lang="en-US" altLang="zh-TW" dirty="0"/>
              <a:t>(</a:t>
            </a:r>
            <a:r>
              <a:rPr lang="zh-TW" altLang="en-US" dirty="0"/>
              <a:t>儲存在驗證器裡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將資料送回後端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763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/store-credential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266829" y="3658031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store-credential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0206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7903910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儲存使用者資料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796A8D07-C798-A8B7-E554-3E9AC5F66A18}"/>
              </a:ext>
            </a:extLst>
          </p:cNvPr>
          <p:cNvCxnSpPr>
            <a:cxnSpLocks/>
          </p:cNvCxnSpPr>
          <p:nvPr/>
        </p:nvCxnSpPr>
        <p:spPr>
          <a:xfrm flipH="1">
            <a:off x="4400262" y="462301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9618B4C5-DB2D-D4AE-3625-4C76ABB0342D}"/>
              </a:ext>
            </a:extLst>
          </p:cNvPr>
          <p:cNvSpPr txBox="1"/>
          <p:nvPr/>
        </p:nvSpPr>
        <p:spPr>
          <a:xfrm>
            <a:off x="5103800" y="4200904"/>
            <a:ext cx="114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成功註冊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D11CE0B-6F71-96DF-3352-2B54382E1DD6}"/>
              </a:ext>
            </a:extLst>
          </p:cNvPr>
          <p:cNvSpPr txBox="1"/>
          <p:nvPr/>
        </p:nvSpPr>
        <p:spPr>
          <a:xfrm>
            <a:off x="1596655" y="4981303"/>
            <a:ext cx="8287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後端收到回傳的資料後，解析與轉換格式</a:t>
            </a:r>
            <a:r>
              <a:rPr lang="en-US" altLang="zh-TW" dirty="0"/>
              <a:t>(byte -&gt; base64)</a:t>
            </a:r>
          </a:p>
          <a:p>
            <a:r>
              <a:rPr lang="zh-TW" altLang="en-US" dirty="0"/>
              <a:t>再將資料帶入到套件的函式去運算使用者資料</a:t>
            </a:r>
            <a:endParaRPr lang="en-US" altLang="zh-TW" dirty="0"/>
          </a:p>
          <a:p>
            <a:r>
              <a:rPr lang="zh-TW" altLang="en-US" dirty="0"/>
              <a:t>之後把資料更新到使用者資料庫就完成註冊了</a:t>
            </a:r>
          </a:p>
        </p:txBody>
      </p:sp>
    </p:spTree>
    <p:extLst>
      <p:ext uri="{BB962C8B-B14F-4D97-AF65-F5344CB8AC3E}">
        <p14:creationId xmlns:p14="http://schemas.microsoft.com/office/powerpoint/2010/main" val="161143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9F0D3B1-4FC9-7788-04F9-CAA9BFD96AA5}"/>
              </a:ext>
            </a:extLst>
          </p:cNvPr>
          <p:cNvSpPr txBox="1"/>
          <p:nvPr/>
        </p:nvSpPr>
        <p:spPr>
          <a:xfrm>
            <a:off x="4326371" y="3316162"/>
            <a:ext cx="38042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一樣先用 使用者名稱去查詢資料庫</a:t>
            </a:r>
            <a:endParaRPr lang="en-US" altLang="zh-TW" dirty="0"/>
          </a:p>
          <a:p>
            <a:r>
              <a:rPr lang="zh-TW" altLang="en-US" dirty="0"/>
              <a:t>再將儲存資料用套件打包</a:t>
            </a:r>
            <a:r>
              <a:rPr lang="en-US" altLang="zh-TW" dirty="0"/>
              <a:t>(</a:t>
            </a:r>
            <a:r>
              <a:rPr lang="zh-TW" altLang="en-US" dirty="0"/>
              <a:t>包含公鑰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Return </a:t>
            </a:r>
            <a:r>
              <a:rPr lang="zh-TW" altLang="en-US" dirty="0"/>
              <a:t>給前端呼叫 </a:t>
            </a:r>
            <a:r>
              <a:rPr lang="en-US" altLang="zh-TW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264793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9F0D3B1-4FC9-7788-04F9-CAA9BFD96AA5}"/>
              </a:ext>
            </a:extLst>
          </p:cNvPr>
          <p:cNvSpPr txBox="1"/>
          <p:nvPr/>
        </p:nvSpPr>
        <p:spPr>
          <a:xfrm>
            <a:off x="1596654" y="4677203"/>
            <a:ext cx="10020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取得資料後一樣先轉碼再呼叫 瀏覽器 </a:t>
            </a:r>
            <a:r>
              <a:rPr lang="en-US" altLang="zh-TW" dirty="0"/>
              <a:t>API</a:t>
            </a:r>
            <a:r>
              <a:rPr lang="zh-TW" altLang="en-US" dirty="0"/>
              <a:t>  </a:t>
            </a:r>
            <a:r>
              <a:rPr lang="en-US" altLang="zh-TW" b="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Fira code" pitchFamily="1" charset="0"/>
              </a:rPr>
              <a:t>navigator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Fira code" pitchFamily="1" charset="0"/>
              </a:rPr>
              <a:t>.</a:t>
            </a:r>
            <a:r>
              <a:rPr lang="en-US" altLang="zh-TW" b="0" dirty="0" err="1">
                <a:solidFill>
                  <a:srgbClr val="4FC1FF"/>
                </a:solidFill>
                <a:effectLst/>
                <a:latin typeface="Fira code" pitchFamily="1" charset="0"/>
              </a:rPr>
              <a:t>credentials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Fira code" pitchFamily="1" charset="0"/>
              </a:rPr>
              <a:t>.</a:t>
            </a:r>
            <a:r>
              <a:rPr lang="en-US" altLang="zh-TW" b="0" dirty="0" err="1">
                <a:solidFill>
                  <a:srgbClr val="FF0000"/>
                </a:solidFill>
                <a:effectLst/>
                <a:latin typeface="Fira code" pitchFamily="1" charset="0"/>
              </a:rPr>
              <a:t>get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()</a:t>
            </a:r>
          </a:p>
          <a:p>
            <a:r>
              <a:rPr lang="zh-TW" altLang="en-US" dirty="0"/>
              <a:t>再透過驗證器去驗證資料，驗證後會得到憑證資料</a:t>
            </a:r>
            <a:endParaRPr lang="en-US" altLang="zh-TW" dirty="0"/>
          </a:p>
          <a:p>
            <a:r>
              <a:rPr lang="zh-TW" altLang="en-US" dirty="0"/>
              <a:t>把憑證傳給後端，等待後端驗證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6968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413389" y="3641270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verify-credential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8622176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驗證使用者資料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477A160-9BA4-0E72-435E-6F2C80797220}"/>
              </a:ext>
            </a:extLst>
          </p:cNvPr>
          <p:cNvCxnSpPr>
            <a:cxnSpLocks/>
          </p:cNvCxnSpPr>
          <p:nvPr/>
        </p:nvCxnSpPr>
        <p:spPr>
          <a:xfrm flipH="1">
            <a:off x="4326371" y="4651436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16BEAE-054C-2A12-3523-1BA312D60E63}"/>
              </a:ext>
            </a:extLst>
          </p:cNvPr>
          <p:cNvSpPr txBox="1"/>
          <p:nvPr/>
        </p:nvSpPr>
        <p:spPr>
          <a:xfrm>
            <a:off x="5574720" y="4282104"/>
            <a:ext cx="112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成功登入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1185A68-9A68-3FCF-9729-CD1DCA93ACCB}"/>
              </a:ext>
            </a:extLst>
          </p:cNvPr>
          <p:cNvSpPr txBox="1"/>
          <p:nvPr/>
        </p:nvSpPr>
        <p:spPr>
          <a:xfrm>
            <a:off x="4106230" y="4955176"/>
            <a:ext cx="5873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將回傳資料與儲存的使用者資料使用套件進行驗證</a:t>
            </a:r>
            <a:endParaRPr lang="en-US" altLang="zh-TW" dirty="0"/>
          </a:p>
          <a:p>
            <a:r>
              <a:rPr lang="zh-TW" altLang="en-US" dirty="0"/>
              <a:t>看驗證結果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209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方塊 13">
            <a:hlinkClick r:id="rId2"/>
            <a:extLst>
              <a:ext uri="{FF2B5EF4-FFF2-40B4-BE49-F238E27FC236}">
                <a16:creationId xmlns:a16="http://schemas.microsoft.com/office/drawing/2014/main" id="{7DED6F83-34BA-CE8B-67E3-95E93815577A}"/>
              </a:ext>
            </a:extLst>
          </p:cNvPr>
          <p:cNvSpPr txBox="1"/>
          <p:nvPr/>
        </p:nvSpPr>
        <p:spPr>
          <a:xfrm>
            <a:off x="2612231" y="2767280"/>
            <a:ext cx="6967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 err="1">
                <a:solidFill>
                  <a:srgbClr val="2E6CA4"/>
                </a:solidFill>
                <a:effectLst/>
                <a:latin typeface="Fira Code" pitchFamily="1" charset="0"/>
                <a:ea typeface="Fira Code" pitchFamily="1" charset="0"/>
                <a:cs typeface="Fira Code" pitchFamily="1" charset="0"/>
              </a:rPr>
              <a:t>Ciallo</a:t>
            </a:r>
            <a:r>
              <a:rPr lang="zh-TW" altLang="en-US" sz="4000" b="1" dirty="0">
                <a:solidFill>
                  <a:srgbClr val="2E6CA4"/>
                </a:solidFill>
                <a:effectLst/>
                <a:latin typeface="Fira Code" pitchFamily="1" charset="0"/>
                <a:cs typeface="Fira Code" pitchFamily="1" charset="0"/>
              </a:rPr>
              <a:t>～</a:t>
            </a:r>
            <a:r>
              <a:rPr lang="en-US" altLang="zh-TW" sz="4000" b="1" dirty="0">
                <a:solidFill>
                  <a:srgbClr val="2E6CA4"/>
                </a:solidFill>
                <a:effectLst/>
                <a:latin typeface="Fira Code" pitchFamily="1" charset="0"/>
                <a:ea typeface="Fira Code" pitchFamily="1" charset="0"/>
                <a:cs typeface="Fira Code" pitchFamily="1" charset="0"/>
              </a:rPr>
              <a:t>(∠</a:t>
            </a:r>
            <a:r>
              <a:rPr lang="zh-TW" altLang="en-US" sz="4000" b="1" dirty="0">
                <a:solidFill>
                  <a:srgbClr val="2E6CA4"/>
                </a:solidFill>
                <a:effectLst/>
                <a:latin typeface="Fira Code" pitchFamily="1" charset="0"/>
                <a:cs typeface="Fira Code" pitchFamily="1" charset="0"/>
              </a:rPr>
              <a:t>・</a:t>
            </a:r>
            <a:r>
              <a:rPr lang="el-GR" altLang="zh-TW" sz="4000" b="1" dirty="0">
                <a:solidFill>
                  <a:srgbClr val="2E6CA4"/>
                </a:solidFill>
                <a:effectLst/>
                <a:latin typeface="Fira Code" pitchFamily="1" charset="0"/>
                <a:ea typeface="Fira Code" pitchFamily="1" charset="0"/>
                <a:cs typeface="Fira Code" pitchFamily="1" charset="0"/>
              </a:rPr>
              <a:t>ω&lt; )⌒☆</a:t>
            </a:r>
          </a:p>
          <a:p>
            <a:endParaRPr lang="zh-TW" altLang="en-US" sz="4000" b="1" dirty="0">
              <a:latin typeface="Fira Code" pitchFamily="1" charset="0"/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54930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459</Words>
  <Application>Microsoft Office PowerPoint</Application>
  <PresentationFormat>寬螢幕</PresentationFormat>
  <Paragraphs>95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Avenir Next</vt:lpstr>
      <vt:lpstr>標楷體</vt:lpstr>
      <vt:lpstr>Aptos</vt:lpstr>
      <vt:lpstr>Arial</vt:lpstr>
      <vt:lpstr>Fira code</vt:lpstr>
      <vt:lpstr>Fira code</vt:lpstr>
      <vt:lpstr>Neue Haas Grotesk Text Pro</vt:lpstr>
      <vt:lpstr>PunchcardVTI</vt:lpstr>
      <vt:lpstr>Fido2_Demo 架構介紹 </vt:lpstr>
      <vt:lpstr>Demo 架構簡述</vt:lpstr>
      <vt:lpstr>網路構成</vt:lpstr>
      <vt:lpstr>網頁驗證流程 – 註冊 /register</vt:lpstr>
      <vt:lpstr>網頁驗證流程 – 註冊 瀏覽器API</vt:lpstr>
      <vt:lpstr>網頁驗證流程 – 註冊/store-credential</vt:lpstr>
      <vt:lpstr>網頁驗證流程 – 登入/verify-register</vt:lpstr>
      <vt:lpstr>網頁驗證流程 – 登入/verify-register</vt:lpstr>
      <vt:lpstr>網頁驗證流程 – 登入/verify-credential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吳宗憲</dc:creator>
  <cp:lastModifiedBy>吳宗憲</cp:lastModifiedBy>
  <cp:revision>9</cp:revision>
  <dcterms:created xsi:type="dcterms:W3CDTF">2025-02-17T17:51:12Z</dcterms:created>
  <dcterms:modified xsi:type="dcterms:W3CDTF">2025-03-23T17:52:37Z</dcterms:modified>
</cp:coreProperties>
</file>